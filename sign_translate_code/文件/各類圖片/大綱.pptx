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E65B2-E8F3-94F2-38BE-7A408D1E2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EC9084-7B89-AF07-385F-AC4CC7056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85C584-BE1F-FD10-9324-E2D17442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FFD479-506A-4185-6F22-F2F6291B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AAF05B-8D73-9999-C251-75AD0DE3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62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20B52-05D3-E155-69BA-91610673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F6F303-DCFD-C273-B4B2-043642E81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1F3E8-2BCE-6C2C-2695-3C72132A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0A8900-CADF-3021-76E9-5C9E98A2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6B9E0A-1EF4-1080-BAA9-C0362131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21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5B2C7A-4456-2BB4-B541-FEC32F6A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C6AA6D-86AB-4933-DC60-264C7ABC2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97BB7F-E24E-4F60-2B3D-148A7995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31704E-7E69-23E6-ED66-B8AF10DB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27584E-CF48-8BAE-B3C9-C785B184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67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F191A2-7550-CD59-DEEB-3B6B5BB4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E65E79-AE86-4E36-1C00-364F774B2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CA43D0-322D-6ADA-6F07-AAC239D74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A93DAE1-D255-68BB-8AD1-F34F076B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766636-BC2F-15A2-99BE-197A3D33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628F75-A9C0-9841-D55A-64C88BE8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45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05173-5E00-71F9-7097-A289A136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FA8F8A-9DA4-E01A-C5D5-191F6E14C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9703042-4C59-4B56-5838-25B758F56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077A661-DAE5-FE3A-7791-DFACF0FA4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148F0C4-95BB-B7D3-1C1A-827A68818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238186-805B-B1C3-F63F-75AA3187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223BC9-7508-EB93-7288-D9B68888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BFB6F4F-B598-1300-733D-6010043E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3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72D2B-53AE-BC34-B77E-0239FC42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EBBD9FF-585C-ADEA-5455-AB804C0B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739AC6-2A14-64F0-D5D2-26D0DF53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FE026C-7080-A5E9-DC03-B60F1CBB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CFC03B5-1AF6-CDE3-FC77-56120ADB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4B803EB-53F8-92E8-00B1-3533855A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0E0D39-0052-0698-E14C-FAC74433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55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CED74F-8048-22C3-C0DE-EFE2AA87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05CDC6-E1DD-31A6-6BDB-8D3694CB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954B42-440E-EE65-D968-6C8597429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284F4A-9D1A-6844-CA7C-6C13195C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A46FA3C-7B6A-5A12-F4C9-16EB0E67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1531F9-708B-AD63-1F68-36E34038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06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32BB98-ABA9-872D-FF80-00488D50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6AC1579-05EE-36C5-787D-F2029DA6D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E5FF4C-7D85-181A-5666-21B69F8FC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F1DA19-8A78-A9C2-8265-EDF8C5BA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2463D3-479D-3BBF-0CA5-1B97E620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5A6A405-55A7-B510-AC74-DFBED581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33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FBFCDC-E5F3-0EED-F030-93506636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773806-1C3A-9265-FE53-3F6D94D9B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478FF6-F69B-B34D-30DD-C89620B0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D3B1A3-474D-196A-3288-36AAFE0B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ED24AA-8742-4D85-CAF6-740D6B1D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44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A229992-BFDC-97BA-AC30-8310B9F41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DE96571-60F6-33D1-2EE1-D7DF8DAC7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744E45-8110-EDB7-03D2-AAA0AD71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390745-BC05-8180-F975-ACBEE58F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F67915-3B58-CA11-6921-9EA6B6C1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12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7E817B6-B146-5DBF-3AF9-FD91BEE88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532A8B-E048-13FE-65DF-63B0BF6A4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19186-D3F0-13C0-CD88-395793DBF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6E4C1-5360-4C78-AB81-82D074AECCA5}" type="datetimeFigureOut">
              <a:rPr lang="zh-TW" altLang="en-US" smtClean="0"/>
              <a:t>2025/6/7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442940-E39B-D655-764E-27547A0BD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87C8AA-0DB8-E7E1-8D90-DDE4B6106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5E42F-45EF-4AE2-8883-82F1661CD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13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A9C948D-63E5-0024-A134-42BF5DEF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2" y="1956173"/>
            <a:ext cx="2086346" cy="1971762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C729259-3219-0A78-8412-9FBAE7FAE88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2934758" y="2942053"/>
            <a:ext cx="7453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1A7F31-EEAC-E638-BC8A-B9CC3B20BC52}"/>
              </a:ext>
            </a:extLst>
          </p:cNvPr>
          <p:cNvSpPr/>
          <p:nvPr/>
        </p:nvSpPr>
        <p:spPr>
          <a:xfrm>
            <a:off x="3680064" y="2702848"/>
            <a:ext cx="1278435" cy="4784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骨架辨識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EED5216-4545-AB35-ACA7-45C6AFED2D64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4958499" y="2942053"/>
            <a:ext cx="9965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3997E5E-4101-0CD0-CA03-3B4959C8D038}"/>
              </a:ext>
            </a:extLst>
          </p:cNvPr>
          <p:cNvSpPr/>
          <p:nvPr/>
        </p:nvSpPr>
        <p:spPr>
          <a:xfrm>
            <a:off x="5955068" y="2702848"/>
            <a:ext cx="1278435" cy="4784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動作辨識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ED3EEFF-9ACF-C489-B5EC-4CCF8120A517}"/>
              </a:ext>
            </a:extLst>
          </p:cNvPr>
          <p:cNvSpPr txBox="1"/>
          <p:nvPr/>
        </p:nvSpPr>
        <p:spPr>
          <a:xfrm>
            <a:off x="5133617" y="25076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骨架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6D6080B-389F-06E3-2072-B523075BB028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>
            <a:off x="6594286" y="3181258"/>
            <a:ext cx="0" cy="599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AB54A09-52F0-2110-704E-F18530BA4DF1}"/>
              </a:ext>
            </a:extLst>
          </p:cNvPr>
          <p:cNvSpPr txBox="1"/>
          <p:nvPr/>
        </p:nvSpPr>
        <p:spPr>
          <a:xfrm>
            <a:off x="6631580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文字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71721DA-981E-082A-776D-843A3C9312CC}"/>
              </a:ext>
            </a:extLst>
          </p:cNvPr>
          <p:cNvSpPr/>
          <p:nvPr/>
        </p:nvSpPr>
        <p:spPr>
          <a:xfrm>
            <a:off x="5955068" y="3780409"/>
            <a:ext cx="1278435" cy="4784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CKIP</a:t>
            </a:r>
            <a:r>
              <a:rPr lang="zh-TW" altLang="en-US" dirty="0">
                <a:solidFill>
                  <a:schemeClr val="tx1"/>
                </a:solidFill>
              </a:rPr>
              <a:t>斷詞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DF64A66-E4EE-92D5-1A43-A9785B9ECC6A}"/>
              </a:ext>
            </a:extLst>
          </p:cNvPr>
          <p:cNvCxnSpPr>
            <a:cxnSpLocks/>
          </p:cNvCxnSpPr>
          <p:nvPr/>
        </p:nvCxnSpPr>
        <p:spPr>
          <a:xfrm>
            <a:off x="7233503" y="4019614"/>
            <a:ext cx="9965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2404D1C-6B3A-D5B5-FBDE-D3B6CB305DF3}"/>
              </a:ext>
            </a:extLst>
          </p:cNvPr>
          <p:cNvSpPr txBox="1"/>
          <p:nvPr/>
        </p:nvSpPr>
        <p:spPr>
          <a:xfrm>
            <a:off x="7408622" y="40741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字詞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F6DFAC1-F360-49AC-DD25-D414EEEDEF75}"/>
              </a:ext>
            </a:extLst>
          </p:cNvPr>
          <p:cNvSpPr/>
          <p:nvPr/>
        </p:nvSpPr>
        <p:spPr>
          <a:xfrm>
            <a:off x="8230072" y="3780409"/>
            <a:ext cx="1278435" cy="4784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詞重組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0F3BF49A-9812-29A5-F008-317079D1285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9508507" y="4019614"/>
            <a:ext cx="6912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C394332-C64E-F415-28D5-B3D9105A8FCC}"/>
              </a:ext>
            </a:extLst>
          </p:cNvPr>
          <p:cNvSpPr txBox="1"/>
          <p:nvPr/>
        </p:nvSpPr>
        <p:spPr>
          <a:xfrm>
            <a:off x="10199802" y="38349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輸出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168CD27A-22E7-1BC6-FA46-1D6BCDF88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76" y="4443485"/>
            <a:ext cx="1131217" cy="1330844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DB430CA-C570-B49F-D3F7-82A8358E7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996" y="2097167"/>
            <a:ext cx="996569" cy="4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6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826C73B2-29AA-349F-3EF8-36F237D7197E}"/>
              </a:ext>
            </a:extLst>
          </p:cNvPr>
          <p:cNvGrpSpPr/>
          <p:nvPr/>
        </p:nvGrpSpPr>
        <p:grpSpPr>
          <a:xfrm>
            <a:off x="115196" y="705423"/>
            <a:ext cx="10735883" cy="3442371"/>
            <a:chOff x="1170998" y="780837"/>
            <a:chExt cx="10735883" cy="3442371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D8B05501-7776-0E3B-872A-41B4E6EBE20E}"/>
                </a:ext>
              </a:extLst>
            </p:cNvPr>
            <p:cNvSpPr txBox="1"/>
            <p:nvPr/>
          </p:nvSpPr>
          <p:spPr>
            <a:xfrm>
              <a:off x="1377834" y="191603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文字</a:t>
              </a:r>
            </a:p>
          </p:txBody>
        </p:sp>
        <p:pic>
          <p:nvPicPr>
            <p:cNvPr id="6" name="圖形 5" descr="報紙 以實心填滿">
              <a:extLst>
                <a:ext uri="{FF2B5EF4-FFF2-40B4-BE49-F238E27FC236}">
                  <a16:creationId xmlns:a16="http://schemas.microsoft.com/office/drawing/2014/main" id="{7004A957-49F6-EC81-9648-60CA57A83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998" y="856034"/>
              <a:ext cx="1060005" cy="1060005"/>
            </a:xfrm>
            <a:prstGeom prst="rect">
              <a:avLst/>
            </a:prstGeom>
          </p:spPr>
        </p:pic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F83839E6-C8E6-59BD-9BAC-FB85C0AB746C}"/>
                </a:ext>
              </a:extLst>
            </p:cNvPr>
            <p:cNvSpPr/>
            <p:nvPr/>
          </p:nvSpPr>
          <p:spPr>
            <a:xfrm>
              <a:off x="2881129" y="1241489"/>
              <a:ext cx="1278435" cy="47841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CKIP</a:t>
              </a:r>
              <a:r>
                <a:rPr lang="zh-TW" altLang="en-US" dirty="0">
                  <a:solidFill>
                    <a:schemeClr val="tx1"/>
                  </a:solidFill>
                </a:rPr>
                <a:t>斷詞</a:t>
              </a: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A93A161F-B244-5C4C-A888-E738D3972A55}"/>
                </a:ext>
              </a:extLst>
            </p:cNvPr>
            <p:cNvCxnSpPr>
              <a:cxnSpLocks/>
            </p:cNvCxnSpPr>
            <p:nvPr/>
          </p:nvCxnSpPr>
          <p:spPr>
            <a:xfrm>
              <a:off x="4338536" y="1480694"/>
              <a:ext cx="7203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9CB498A-736C-E261-890A-2E585BFC1583}"/>
                </a:ext>
              </a:extLst>
            </p:cNvPr>
            <p:cNvSpPr txBox="1"/>
            <p:nvPr/>
          </p:nvSpPr>
          <p:spPr>
            <a:xfrm>
              <a:off x="6038532" y="211166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字詞</a:t>
              </a:r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94D43B0F-930C-E6B9-6D7B-1CA813676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4739" y="1904565"/>
              <a:ext cx="1131217" cy="1330844"/>
            </a:xfrm>
            <a:prstGeom prst="rect">
              <a:avLst/>
            </a:prstGeom>
          </p:spPr>
        </p:pic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ABAA4D1-7761-A255-70BA-CE7D0D90B636}"/>
                </a:ext>
              </a:extLst>
            </p:cNvPr>
            <p:cNvCxnSpPr>
              <a:cxnSpLocks/>
            </p:cNvCxnSpPr>
            <p:nvPr/>
          </p:nvCxnSpPr>
          <p:spPr>
            <a:xfrm>
              <a:off x="2146063" y="1480694"/>
              <a:ext cx="558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4C18A7BC-6158-C224-0E01-78CEECC48F63}"/>
                </a:ext>
              </a:extLst>
            </p:cNvPr>
            <p:cNvGrpSpPr/>
            <p:nvPr/>
          </p:nvGrpSpPr>
          <p:grpSpPr>
            <a:xfrm>
              <a:off x="5090138" y="780837"/>
              <a:ext cx="2637537" cy="1330828"/>
              <a:chOff x="1700999" y="4411744"/>
              <a:chExt cx="2637537" cy="1330828"/>
            </a:xfrm>
          </p:grpSpPr>
          <p:sp>
            <p:nvSpPr>
              <p:cNvPr id="20" name="矩形: 圓角 19">
                <a:extLst>
                  <a:ext uri="{FF2B5EF4-FFF2-40B4-BE49-F238E27FC236}">
                    <a16:creationId xmlns:a16="http://schemas.microsoft.com/office/drawing/2014/main" id="{A06952CE-24D2-8891-7A53-B83EDE69C8DC}"/>
                  </a:ext>
                </a:extLst>
              </p:cNvPr>
              <p:cNvSpPr/>
              <p:nvPr/>
            </p:nvSpPr>
            <p:spPr>
              <a:xfrm>
                <a:off x="1700999" y="4411744"/>
                <a:ext cx="2637537" cy="133082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AD570222-32F7-B472-3B81-A12FAAFA1A3C}"/>
                  </a:ext>
                </a:extLst>
              </p:cNvPr>
              <p:cNvGrpSpPr/>
              <p:nvPr/>
            </p:nvGrpSpPr>
            <p:grpSpPr>
              <a:xfrm>
                <a:off x="1789185" y="4569326"/>
                <a:ext cx="2461163" cy="1015663"/>
                <a:chOff x="917626" y="4090386"/>
                <a:chExt cx="2731541" cy="988619"/>
              </a:xfrm>
            </p:grpSpPr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77D2C01-D93C-8680-8C64-1442AEE68264}"/>
                    </a:ext>
                  </a:extLst>
                </p:cNvPr>
                <p:cNvSpPr txBox="1"/>
                <p:nvPr/>
              </p:nvSpPr>
              <p:spPr>
                <a:xfrm>
                  <a:off x="917626" y="4090386"/>
                  <a:ext cx="2626754" cy="9886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TW" altLang="en-US" sz="1200" dirty="0"/>
                    <a:t>今天(Nd)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11月(Neu)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20號(Neu)　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有(V_2)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運動會(Na)</a:t>
                  </a:r>
                  <a:endParaRPr lang="en-US" altLang="zh-TW" sz="1200" dirty="0"/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F9A81EA9-2BA0-F38E-00FD-830E3FC2E74A}"/>
                    </a:ext>
                  </a:extLst>
                </p:cNvPr>
                <p:cNvSpPr txBox="1"/>
                <p:nvPr/>
              </p:nvSpPr>
              <p:spPr>
                <a:xfrm>
                  <a:off x="1730795" y="4090386"/>
                  <a:ext cx="1918372" cy="9886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TW" altLang="en-US" sz="1200" dirty="0"/>
                    <a:t>，(COMMACATEGORY)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但是(Cbb)　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11點(Neu)　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要(D)　</a:t>
                  </a:r>
                  <a:endParaRPr lang="en-US" altLang="zh-TW" sz="1200" dirty="0"/>
                </a:p>
                <a:p>
                  <a:r>
                    <a:rPr lang="zh-TW" altLang="en-US" sz="1200" dirty="0"/>
                    <a:t>開會(VA)</a:t>
                  </a:r>
                  <a:endParaRPr lang="en-US" altLang="zh-TW" sz="1200" dirty="0"/>
                </a:p>
              </p:txBody>
            </p:sp>
          </p:grpSp>
        </p:grp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11F20BF-2220-288B-1A03-D837A226ED16}"/>
                </a:ext>
              </a:extLst>
            </p:cNvPr>
            <p:cNvCxnSpPr>
              <a:cxnSpLocks/>
            </p:cNvCxnSpPr>
            <p:nvPr/>
          </p:nvCxnSpPr>
          <p:spPr>
            <a:xfrm>
              <a:off x="7846879" y="1473524"/>
              <a:ext cx="1278267" cy="71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2FCBA94F-3180-3D30-86F1-83F723197A2C}"/>
                </a:ext>
              </a:extLst>
            </p:cNvPr>
            <p:cNvSpPr txBox="1"/>
            <p:nvPr/>
          </p:nvSpPr>
          <p:spPr>
            <a:xfrm>
              <a:off x="8047430" y="11113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預處理</a:t>
              </a:r>
            </a:p>
          </p:txBody>
        </p:sp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517D1C63-5B42-D42B-4DAB-9C9E3319564A}"/>
                </a:ext>
              </a:extLst>
            </p:cNvPr>
            <p:cNvSpPr/>
            <p:nvPr/>
          </p:nvSpPr>
          <p:spPr>
            <a:xfrm>
              <a:off x="9248498" y="1207045"/>
              <a:ext cx="1278435" cy="47841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tx1"/>
                  </a:solidFill>
                </a:rPr>
                <a:t>模型</a:t>
              </a: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12E1D87-C228-A133-A63B-390C84F68AAA}"/>
                </a:ext>
              </a:extLst>
            </p:cNvPr>
            <p:cNvCxnSpPr>
              <a:cxnSpLocks/>
            </p:cNvCxnSpPr>
            <p:nvPr/>
          </p:nvCxnSpPr>
          <p:spPr>
            <a:xfrm>
              <a:off x="10621417" y="1473524"/>
              <a:ext cx="6391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90FAF9AD-CA28-CDE2-6DAB-FA9ADCD90AD9}"/>
                </a:ext>
              </a:extLst>
            </p:cNvPr>
            <p:cNvSpPr txBox="1"/>
            <p:nvPr/>
          </p:nvSpPr>
          <p:spPr>
            <a:xfrm>
              <a:off x="11260550" y="12888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輸出</a:t>
              </a:r>
            </a:p>
          </p:txBody>
        </p: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E2887A2-94D9-0BC5-51B0-69BB6BEBBB1B}"/>
                </a:ext>
              </a:extLst>
            </p:cNvPr>
            <p:cNvSpPr txBox="1"/>
            <p:nvPr/>
          </p:nvSpPr>
          <p:spPr>
            <a:xfrm>
              <a:off x="1447536" y="2329713"/>
              <a:ext cx="5309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dirty="0">
                  <a:solidFill>
                    <a:schemeClr val="accent6"/>
                  </a:solidFill>
                </a:rPr>
                <a:t>✓</a:t>
              </a: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B82F7E7-E503-B487-345F-50CB88C4864E}"/>
                </a:ext>
              </a:extLst>
            </p:cNvPr>
            <p:cNvSpPr txBox="1"/>
            <p:nvPr/>
          </p:nvSpPr>
          <p:spPr>
            <a:xfrm>
              <a:off x="3254888" y="3299426"/>
              <a:ext cx="5309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dirty="0">
                  <a:solidFill>
                    <a:schemeClr val="accent6"/>
                  </a:solidFill>
                </a:rPr>
                <a:t>✓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F11DBF33-D86F-4C92-45D2-642651216538}"/>
                </a:ext>
              </a:extLst>
            </p:cNvPr>
            <p:cNvSpPr txBox="1"/>
            <p:nvPr/>
          </p:nvSpPr>
          <p:spPr>
            <a:xfrm>
              <a:off x="6082801" y="2459786"/>
              <a:ext cx="5309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dirty="0">
                  <a:solidFill>
                    <a:schemeClr val="accent6"/>
                  </a:solidFill>
                </a:rPr>
                <a:t>✓</a:t>
              </a:r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949FBE8-2EA5-6614-6B0D-A100479C4E40}"/>
                </a:ext>
              </a:extLst>
            </p:cNvPr>
            <p:cNvCxnSpPr/>
            <p:nvPr/>
          </p:nvCxnSpPr>
          <p:spPr>
            <a:xfrm flipH="1">
              <a:off x="5178324" y="1658190"/>
              <a:ext cx="3307687" cy="25650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400ADFD-D76B-CF7A-DF68-F8CCF22C17EF}"/>
                </a:ext>
              </a:extLst>
            </p:cNvPr>
            <p:cNvCxnSpPr>
              <a:cxnSpLocks/>
            </p:cNvCxnSpPr>
            <p:nvPr/>
          </p:nvCxnSpPr>
          <p:spPr>
            <a:xfrm>
              <a:off x="8486011" y="1658190"/>
              <a:ext cx="3097704" cy="25650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4B5DC6B-69B2-DE28-4AEA-77CC11D47B09}"/>
              </a:ext>
            </a:extLst>
          </p:cNvPr>
          <p:cNvSpPr txBox="1"/>
          <p:nvPr/>
        </p:nvSpPr>
        <p:spPr>
          <a:xfrm>
            <a:off x="2947129" y="4187880"/>
            <a:ext cx="2174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沒有</a:t>
            </a:r>
            <a:r>
              <a:rPr lang="en-US" altLang="zh-TW" sz="1800" dirty="0"/>
              <a:t>[</a:t>
            </a:r>
            <a:r>
              <a:rPr lang="zh-TW" altLang="en-US" sz="1800" dirty="0"/>
              <a:t>零</a:t>
            </a:r>
            <a:r>
              <a:rPr lang="en-US" altLang="zh-TW" sz="1800" dirty="0"/>
              <a:t>]</a:t>
            </a:r>
            <a:br>
              <a:rPr lang="en-US" altLang="zh-TW" sz="1800" dirty="0"/>
            </a:br>
            <a:r>
              <a:rPr lang="zh-TW" altLang="en-US" sz="1800" dirty="0"/>
              <a:t>公差</a:t>
            </a:r>
            <a:r>
              <a:rPr lang="en-US" altLang="zh-TW" sz="1800" dirty="0"/>
              <a:t>[</a:t>
            </a:r>
            <a:r>
              <a:rPr lang="zh-TW" altLang="en-US" sz="1800" dirty="0"/>
              <a:t>公</a:t>
            </a:r>
            <a:r>
              <a:rPr lang="en-US" altLang="zh-TW" sz="1800" dirty="0"/>
              <a:t>+</a:t>
            </a:r>
            <a:r>
              <a:rPr lang="zh-TW" altLang="en-US" sz="1800" dirty="0"/>
              <a:t>命令</a:t>
            </a:r>
            <a:r>
              <a:rPr lang="en-US" altLang="zh-TW" sz="1800" dirty="0"/>
              <a:t>+</a:t>
            </a:r>
            <a:r>
              <a:rPr lang="zh-TW" altLang="en-US" sz="1800" dirty="0"/>
              <a:t>出</a:t>
            </a:r>
            <a:r>
              <a:rPr lang="en-US" altLang="zh-TW" sz="1800" dirty="0"/>
              <a:t>]</a:t>
            </a:r>
            <a:br>
              <a:rPr lang="en-US" altLang="zh-TW" sz="1800" dirty="0"/>
            </a:br>
            <a:r>
              <a:rPr lang="zh-TW" altLang="en-US" sz="1800" dirty="0"/>
              <a:t>提早</a:t>
            </a:r>
            <a:r>
              <a:rPr lang="en-US" altLang="zh-TW" sz="1800" dirty="0"/>
              <a:t>[</a:t>
            </a:r>
            <a:r>
              <a:rPr lang="zh-TW" altLang="en-US" sz="1800" dirty="0"/>
              <a:t>太快</a:t>
            </a:r>
            <a:r>
              <a:rPr lang="en-US" altLang="zh-TW" sz="1800" dirty="0"/>
              <a:t>+</a:t>
            </a:r>
            <a:r>
              <a:rPr lang="zh-TW" altLang="en-US" sz="1800" dirty="0"/>
              <a:t>之前</a:t>
            </a:r>
            <a:r>
              <a:rPr lang="en-US" altLang="zh-TW" sz="1800" dirty="0"/>
              <a:t>]</a:t>
            </a:r>
            <a:br>
              <a:rPr lang="en-US" altLang="zh-TW" sz="1800" dirty="0"/>
            </a:br>
            <a:r>
              <a:rPr lang="zh-TW" altLang="en-US" sz="1800" dirty="0"/>
              <a:t>不動產</a:t>
            </a:r>
            <a:r>
              <a:rPr lang="en-US" altLang="zh-TW" sz="1800" dirty="0"/>
              <a:t>[</a:t>
            </a:r>
            <a:r>
              <a:rPr lang="zh-TW" altLang="en-US" sz="1800" dirty="0"/>
              <a:t>不</a:t>
            </a:r>
            <a:r>
              <a:rPr lang="en-US" altLang="zh-TW" sz="1800" dirty="0"/>
              <a:t>+</a:t>
            </a:r>
            <a:r>
              <a:rPr lang="zh-TW" altLang="en-US" sz="1800" dirty="0"/>
              <a:t>活動</a:t>
            </a:r>
            <a:r>
              <a:rPr lang="en-US" altLang="zh-TW" sz="1800" dirty="0"/>
              <a:t>+</a:t>
            </a:r>
            <a:r>
              <a:rPr lang="zh-TW" altLang="en-US" sz="1800" dirty="0"/>
              <a:t>產</a:t>
            </a:r>
            <a:r>
              <a:rPr lang="en-US" altLang="zh-TW" sz="1800" dirty="0"/>
              <a:t>]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394B084-87FF-24F6-5047-27C32D1E1C7F}"/>
              </a:ext>
            </a:extLst>
          </p:cNvPr>
          <p:cNvSpPr txBox="1"/>
          <p:nvPr/>
        </p:nvSpPr>
        <p:spPr>
          <a:xfrm>
            <a:off x="2294893" y="547828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在資料集中有註明該文字的打法</a:t>
            </a:r>
            <a:br>
              <a:rPr lang="en-US" altLang="zh-TW" dirty="0"/>
            </a:br>
            <a:r>
              <a:rPr lang="zh-TW" altLang="en-US" dirty="0"/>
              <a:t>資料庫</a:t>
            </a:r>
            <a:r>
              <a:rPr lang="en-US" altLang="zh-TW" dirty="0"/>
              <a:t>or</a:t>
            </a:r>
            <a:r>
              <a:rPr lang="zh-TW" altLang="en-US" dirty="0"/>
              <a:t>字典搞定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F649A90-CEA5-0FF2-6FFD-DF8F0744EE12}"/>
              </a:ext>
            </a:extLst>
          </p:cNvPr>
          <p:cNvSpPr txBox="1"/>
          <p:nvPr/>
        </p:nvSpPr>
        <p:spPr>
          <a:xfrm>
            <a:off x="7700834" y="5360387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目前想法：</a:t>
            </a:r>
            <a:br>
              <a:rPr lang="en-US" altLang="zh-TW" dirty="0"/>
            </a:br>
            <a:r>
              <a:rPr lang="zh-TW" altLang="en-US" dirty="0"/>
              <a:t>用自然語言匹配模型</a:t>
            </a:r>
            <a:br>
              <a:rPr lang="en-US" altLang="zh-TW" dirty="0"/>
            </a:br>
            <a:r>
              <a:rPr lang="zh-TW" altLang="en-US" dirty="0"/>
              <a:t>找出替換詞對應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BC2F737-F68A-1C90-32BD-C81FBA45F068}"/>
              </a:ext>
            </a:extLst>
          </p:cNvPr>
          <p:cNvSpPr txBox="1"/>
          <p:nvPr/>
        </p:nvSpPr>
        <p:spPr>
          <a:xfrm>
            <a:off x="5629061" y="444617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小周花了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200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元簽樂透，意外很幸運的中了參獎。</a:t>
            </a:r>
            <a:b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周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男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樂透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簽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買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]/200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忽然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及格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第三名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好幸運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dirty="0"/>
              <a:t>  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7CADEC84-9D70-1B10-A5BD-B64997A8367B}"/>
              </a:ext>
            </a:extLst>
          </p:cNvPr>
          <p:cNvSpPr/>
          <p:nvPr/>
        </p:nvSpPr>
        <p:spPr>
          <a:xfrm>
            <a:off x="7868791" y="4278939"/>
            <a:ext cx="3417458" cy="1006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FDBC1E7-DAAB-5453-46B7-A3955CBC0BE4}"/>
              </a:ext>
            </a:extLst>
          </p:cNvPr>
          <p:cNvSpPr txBox="1"/>
          <p:nvPr/>
        </p:nvSpPr>
        <p:spPr>
          <a:xfrm>
            <a:off x="3527929" y="6044858"/>
            <a:ext cx="53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chemeClr val="accent6"/>
                </a:solidFill>
              </a:rPr>
              <a:t>✓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514069-D28F-4817-617A-B191400BB2C8}"/>
              </a:ext>
            </a:extLst>
          </p:cNvPr>
          <p:cNvSpPr txBox="1"/>
          <p:nvPr/>
        </p:nvSpPr>
        <p:spPr>
          <a:xfrm>
            <a:off x="8566455" y="6127047"/>
            <a:ext cx="53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chemeClr val="accent6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49973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字方塊 31">
            <a:extLst>
              <a:ext uri="{FF2B5EF4-FFF2-40B4-BE49-F238E27FC236}">
                <a16:creationId xmlns:a16="http://schemas.microsoft.com/office/drawing/2014/main" id="{30CD86FF-9971-E328-B33B-69273EA47F80}"/>
              </a:ext>
            </a:extLst>
          </p:cNvPr>
          <p:cNvSpPr txBox="1"/>
          <p:nvPr/>
        </p:nvSpPr>
        <p:spPr>
          <a:xfrm>
            <a:off x="717545" y="614281"/>
            <a:ext cx="2141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預處理</a:t>
            </a:r>
            <a:r>
              <a:rPr lang="en-US" altLang="zh-TW" dirty="0"/>
              <a:t>-Transformer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86E9AABA-C51B-7575-7698-4AE74BFE2175}"/>
              </a:ext>
            </a:extLst>
          </p:cNvPr>
          <p:cNvGrpSpPr/>
          <p:nvPr/>
        </p:nvGrpSpPr>
        <p:grpSpPr>
          <a:xfrm>
            <a:off x="728058" y="1049625"/>
            <a:ext cx="11069951" cy="3321339"/>
            <a:chOff x="728058" y="1049625"/>
            <a:chExt cx="11069951" cy="3321339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8F493CD0-15F8-D27C-256C-8315011EA72F}"/>
                </a:ext>
              </a:extLst>
            </p:cNvPr>
            <p:cNvGrpSpPr/>
            <p:nvPr/>
          </p:nvGrpSpPr>
          <p:grpSpPr>
            <a:xfrm>
              <a:off x="728058" y="1049625"/>
              <a:ext cx="10261157" cy="2379375"/>
              <a:chOff x="728058" y="1049625"/>
              <a:chExt cx="10261157" cy="2379375"/>
            </a:xfrm>
          </p:grpSpPr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897C48D-FEC9-B3BA-9320-6468ADFD471F}"/>
                  </a:ext>
                </a:extLst>
              </p:cNvPr>
              <p:cNvSpPr txBox="1"/>
              <p:nvPr/>
            </p:nvSpPr>
            <p:spPr>
              <a:xfrm>
                <a:off x="934894" y="21096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文字</a:t>
                </a:r>
              </a:p>
            </p:txBody>
          </p:sp>
          <p:pic>
            <p:nvPicPr>
              <p:cNvPr id="4" name="圖形 3" descr="報紙 以實心填滿">
                <a:extLst>
                  <a:ext uri="{FF2B5EF4-FFF2-40B4-BE49-F238E27FC236}">
                    <a16:creationId xmlns:a16="http://schemas.microsoft.com/office/drawing/2014/main" id="{6DC40F4F-6F6D-4A26-0D48-4EAE7F379B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8058" y="1049625"/>
                <a:ext cx="1060005" cy="1060005"/>
              </a:xfrm>
              <a:prstGeom prst="rect">
                <a:avLst/>
              </a:prstGeom>
            </p:spPr>
          </p:pic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6449A69C-EA4D-C0BC-EBCF-879D1ECBCD32}"/>
                  </a:ext>
                </a:extLst>
              </p:cNvPr>
              <p:cNvSpPr/>
              <p:nvPr/>
            </p:nvSpPr>
            <p:spPr>
              <a:xfrm>
                <a:off x="2438189" y="1435080"/>
                <a:ext cx="1278435" cy="47841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CKIP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斷詞</a:t>
                </a:r>
              </a:p>
            </p:txBody>
          </p:sp>
          <p:cxnSp>
            <p:nvCxnSpPr>
              <p:cNvPr id="6" name="直線單箭頭接點 5">
                <a:extLst>
                  <a:ext uri="{FF2B5EF4-FFF2-40B4-BE49-F238E27FC236}">
                    <a16:creationId xmlns:a16="http://schemas.microsoft.com/office/drawing/2014/main" id="{09065E81-2B6C-6FC7-D2A2-554929B341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596" y="1674285"/>
                <a:ext cx="72031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9F42827-CFBB-8CE1-8EDC-0645935D0F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1799" y="2098156"/>
                <a:ext cx="1131217" cy="1330844"/>
              </a:xfrm>
              <a:prstGeom prst="rect">
                <a:avLst/>
              </a:prstGeom>
            </p:spPr>
          </p:pic>
          <p:cxnSp>
            <p:nvCxnSpPr>
              <p:cNvPr id="9" name="直線單箭頭接點 8">
                <a:extLst>
                  <a:ext uri="{FF2B5EF4-FFF2-40B4-BE49-F238E27FC236}">
                    <a16:creationId xmlns:a16="http://schemas.microsoft.com/office/drawing/2014/main" id="{401FE652-4648-F8D5-0830-24E5D1915D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3123" y="1674285"/>
                <a:ext cx="558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線單箭頭接點 10">
                <a:extLst>
                  <a:ext uri="{FF2B5EF4-FFF2-40B4-BE49-F238E27FC236}">
                    <a16:creationId xmlns:a16="http://schemas.microsoft.com/office/drawing/2014/main" id="{323704A6-4224-40FE-F726-5914596F25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2294" y="1667115"/>
                <a:ext cx="827236" cy="71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9709737-3E07-44E0-8A39-4AE8D6D32CEC}"/>
                  </a:ext>
                </a:extLst>
              </p:cNvPr>
              <p:cNvSpPr/>
              <p:nvPr/>
            </p:nvSpPr>
            <p:spPr>
              <a:xfrm>
                <a:off x="7303144" y="1435080"/>
                <a:ext cx="2057059" cy="47841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Transformer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模型</a:t>
                </a:r>
              </a:p>
            </p:txBody>
          </p:sp>
          <p:cxnSp>
            <p:nvCxnSpPr>
              <p:cNvPr id="14" name="直線單箭頭接點 13">
                <a:extLst>
                  <a:ext uri="{FF2B5EF4-FFF2-40B4-BE49-F238E27FC236}">
                    <a16:creationId xmlns:a16="http://schemas.microsoft.com/office/drawing/2014/main" id="{E06D00CC-6D89-5124-7636-9587087DF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75161" y="1674285"/>
                <a:ext cx="63913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3315C0E-2EA3-9EBD-C7ED-6C507C371F3A}"/>
                  </a:ext>
                </a:extLst>
              </p:cNvPr>
              <p:cNvSpPr txBox="1"/>
              <p:nvPr/>
            </p:nvSpPr>
            <p:spPr>
              <a:xfrm>
                <a:off x="10342884" y="147320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輸出</a:t>
                </a:r>
              </a:p>
            </p:txBody>
          </p:sp>
          <p:pic>
            <p:nvPicPr>
              <p:cNvPr id="1026" name="Picture 2" descr="GitHub - hankcs/HanLP: Natural Language Processing for the ...">
                <a:extLst>
                  <a:ext uri="{FF2B5EF4-FFF2-40B4-BE49-F238E27FC236}">
                    <a16:creationId xmlns:a16="http://schemas.microsoft.com/office/drawing/2014/main" id="{F816CBA4-B622-1693-1D8F-6BAE5F4091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8994" y="2109630"/>
                <a:ext cx="1450218" cy="457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63DFFE0B-0634-C1C1-57C0-E68246F9010A}"/>
                  </a:ext>
                </a:extLst>
              </p:cNvPr>
              <p:cNvSpPr/>
              <p:nvPr/>
            </p:nvSpPr>
            <p:spPr>
              <a:xfrm>
                <a:off x="4794887" y="1427910"/>
                <a:ext cx="1278435" cy="47841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/>
                  <a:t>預處理</a:t>
                </a:r>
              </a:p>
            </p:txBody>
          </p:sp>
        </p:grp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5531ED54-2A1D-25E4-7189-5F3349689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1576" y="2914378"/>
              <a:ext cx="1607335" cy="602751"/>
            </a:xfrm>
            <a:prstGeom prst="rect">
              <a:avLst/>
            </a:prstGeom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47CC5FA4-478B-7ACE-C2C7-5A7D494F9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7393" y="3032624"/>
              <a:ext cx="1590982" cy="366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E580954-7BC7-E54A-4D13-7B0E6059AEB0}"/>
                </a:ext>
              </a:extLst>
            </p:cNvPr>
            <p:cNvSpPr txBox="1"/>
            <p:nvPr/>
          </p:nvSpPr>
          <p:spPr>
            <a:xfrm>
              <a:off x="9894727" y="1924964"/>
              <a:ext cx="19032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Ex:</a:t>
              </a:r>
              <a:r>
                <a:rPr lang="zh-TW" altLang="en-US" dirty="0"/>
                <a:t>他/跑步/快//</a:t>
              </a:r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7F21EDCB-488D-22D8-94DD-19091CA23885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10342884" y="2294296"/>
              <a:ext cx="503484" cy="6200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30867E46-039B-2270-30F8-22F8ED246126}"/>
                </a:ext>
              </a:extLst>
            </p:cNvPr>
            <p:cNvCxnSpPr>
              <a:cxnSpLocks/>
              <a:stCxn id="7" idx="2"/>
              <a:endCxn id="31" idx="0"/>
            </p:cNvCxnSpPr>
            <p:nvPr/>
          </p:nvCxnSpPr>
          <p:spPr>
            <a:xfrm flipH="1">
              <a:off x="8535244" y="2294296"/>
              <a:ext cx="2311124" cy="6200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DF7ADD56-4684-74CF-162F-3CA95BA03FA0}"/>
                </a:ext>
              </a:extLst>
            </p:cNvPr>
            <p:cNvCxnSpPr>
              <a:stCxn id="31" idx="2"/>
            </p:cNvCxnSpPr>
            <p:nvPr/>
          </p:nvCxnSpPr>
          <p:spPr>
            <a:xfrm>
              <a:off x="8535244" y="3517129"/>
              <a:ext cx="910414" cy="4044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8454BB0-08B4-0EEC-80E4-09AA6814843D}"/>
                </a:ext>
              </a:extLst>
            </p:cNvPr>
            <p:cNvCxnSpPr>
              <a:cxnSpLocks/>
              <a:stCxn id="1034" idx="2"/>
            </p:cNvCxnSpPr>
            <p:nvPr/>
          </p:nvCxnSpPr>
          <p:spPr>
            <a:xfrm flipH="1">
              <a:off x="9531312" y="3398881"/>
              <a:ext cx="811572" cy="5464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A88C68E2-0E1E-5811-E789-F6DD1064F796}"/>
                </a:ext>
              </a:extLst>
            </p:cNvPr>
            <p:cNvSpPr txBox="1"/>
            <p:nvPr/>
          </p:nvSpPr>
          <p:spPr>
            <a:xfrm>
              <a:off x="7878392" y="4001632"/>
              <a:ext cx="33058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後處理後與參考目標計算分數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435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775A23D-84D1-A9F8-A9B2-194E4CAEA905}"/>
              </a:ext>
            </a:extLst>
          </p:cNvPr>
          <p:cNvGrpSpPr/>
          <p:nvPr/>
        </p:nvGrpSpPr>
        <p:grpSpPr>
          <a:xfrm>
            <a:off x="1630837" y="386499"/>
            <a:ext cx="9387396" cy="2504457"/>
            <a:chOff x="728058" y="1049625"/>
            <a:chExt cx="11069951" cy="3321339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5CE1CDA-1A06-C19B-A779-3B68C7E6BAAC}"/>
                </a:ext>
              </a:extLst>
            </p:cNvPr>
            <p:cNvGrpSpPr/>
            <p:nvPr/>
          </p:nvGrpSpPr>
          <p:grpSpPr>
            <a:xfrm>
              <a:off x="728058" y="1049625"/>
              <a:ext cx="10261157" cy="2379375"/>
              <a:chOff x="728058" y="1049625"/>
              <a:chExt cx="10261157" cy="2379375"/>
            </a:xfrm>
          </p:grpSpPr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3515FE4-CEC5-3B16-C607-A7EDD1B492C6}"/>
                  </a:ext>
                </a:extLst>
              </p:cNvPr>
              <p:cNvSpPr txBox="1"/>
              <p:nvPr/>
            </p:nvSpPr>
            <p:spPr>
              <a:xfrm>
                <a:off x="934894" y="21096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文字</a:t>
                </a:r>
              </a:p>
            </p:txBody>
          </p:sp>
          <p:pic>
            <p:nvPicPr>
              <p:cNvPr id="13" name="圖形 12" descr="報紙 以實心填滿">
                <a:extLst>
                  <a:ext uri="{FF2B5EF4-FFF2-40B4-BE49-F238E27FC236}">
                    <a16:creationId xmlns:a16="http://schemas.microsoft.com/office/drawing/2014/main" id="{4F825EEC-0773-283F-D5ED-5CB2E60DE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8058" y="1049625"/>
                <a:ext cx="1060005" cy="1060005"/>
              </a:xfrm>
              <a:prstGeom prst="rect">
                <a:avLst/>
              </a:prstGeom>
            </p:spPr>
          </p:pic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1D4DE5EA-C1C1-382A-226F-26658BBD201B}"/>
                  </a:ext>
                </a:extLst>
              </p:cNvPr>
              <p:cNvSpPr/>
              <p:nvPr/>
            </p:nvSpPr>
            <p:spPr>
              <a:xfrm>
                <a:off x="2438189" y="1435080"/>
                <a:ext cx="1278435" cy="47841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CKIP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斷詞</a:t>
                </a:r>
              </a:p>
            </p:txBody>
          </p:sp>
          <p:cxnSp>
            <p:nvCxnSpPr>
              <p:cNvPr id="15" name="直線單箭頭接點 14">
                <a:extLst>
                  <a:ext uri="{FF2B5EF4-FFF2-40B4-BE49-F238E27FC236}">
                    <a16:creationId xmlns:a16="http://schemas.microsoft.com/office/drawing/2014/main" id="{5D1ECF7C-90BD-4939-1288-DE505BC76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596" y="1674285"/>
                <a:ext cx="72031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4AC1FFC7-F6AA-0FAF-B461-7B18678BC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1799" y="2098156"/>
                <a:ext cx="1131217" cy="1330844"/>
              </a:xfrm>
              <a:prstGeom prst="rect">
                <a:avLst/>
              </a:prstGeom>
            </p:spPr>
          </p:pic>
          <p:cxnSp>
            <p:nvCxnSpPr>
              <p:cNvPr id="17" name="直線單箭頭接點 16">
                <a:extLst>
                  <a:ext uri="{FF2B5EF4-FFF2-40B4-BE49-F238E27FC236}">
                    <a16:creationId xmlns:a16="http://schemas.microsoft.com/office/drawing/2014/main" id="{D000E15B-5DF7-2808-2A8D-0E9865D7E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3123" y="1674285"/>
                <a:ext cx="558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17">
                <a:extLst>
                  <a:ext uri="{FF2B5EF4-FFF2-40B4-BE49-F238E27FC236}">
                    <a16:creationId xmlns:a16="http://schemas.microsoft.com/office/drawing/2014/main" id="{E88FB5AA-7BE5-8ABC-DF8A-57F0718D3A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2294" y="1667115"/>
                <a:ext cx="827236" cy="71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60E910E4-D45E-52EF-C2FA-734CD4DA4C0E}"/>
                  </a:ext>
                </a:extLst>
              </p:cNvPr>
              <p:cNvSpPr/>
              <p:nvPr/>
            </p:nvSpPr>
            <p:spPr>
              <a:xfrm>
                <a:off x="7303144" y="1435080"/>
                <a:ext cx="2057059" cy="47841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Transformer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模型</a:t>
                </a:r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73CBB976-EA03-292A-2C8A-2D3F9952F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75161" y="1674285"/>
                <a:ext cx="63913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7FEBED5-6A8F-D81A-6DB8-57EF0B1F430A}"/>
                  </a:ext>
                </a:extLst>
              </p:cNvPr>
              <p:cNvSpPr txBox="1"/>
              <p:nvPr/>
            </p:nvSpPr>
            <p:spPr>
              <a:xfrm>
                <a:off x="10342884" y="147320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輸出</a:t>
                </a:r>
              </a:p>
            </p:txBody>
          </p:sp>
          <p:pic>
            <p:nvPicPr>
              <p:cNvPr id="22" name="Picture 2" descr="GitHub - hankcs/HanLP: Natural Language Processing for the ...">
                <a:extLst>
                  <a:ext uri="{FF2B5EF4-FFF2-40B4-BE49-F238E27FC236}">
                    <a16:creationId xmlns:a16="http://schemas.microsoft.com/office/drawing/2014/main" id="{F3AEBAC3-3EC9-F245-1951-B4A8C8E834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8994" y="2109630"/>
                <a:ext cx="1450218" cy="457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矩形: 圓角 22">
                <a:extLst>
                  <a:ext uri="{FF2B5EF4-FFF2-40B4-BE49-F238E27FC236}">
                    <a16:creationId xmlns:a16="http://schemas.microsoft.com/office/drawing/2014/main" id="{808E00AA-3866-7527-D8D2-78B13F758555}"/>
                  </a:ext>
                </a:extLst>
              </p:cNvPr>
              <p:cNvSpPr/>
              <p:nvPr/>
            </p:nvSpPr>
            <p:spPr>
              <a:xfrm>
                <a:off x="4794887" y="1427910"/>
                <a:ext cx="1278435" cy="47841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/>
                  <a:t>預處理</a:t>
                </a:r>
              </a:p>
            </p:txBody>
          </p:sp>
        </p:grp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C71AA258-71FB-2533-BFF7-4461ABE23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1576" y="2914378"/>
              <a:ext cx="1607335" cy="602751"/>
            </a:xfrm>
            <a:prstGeom prst="rect">
              <a:avLst/>
            </a:prstGeom>
          </p:spPr>
        </p:pic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228DECB5-5B84-9537-553D-6AC9A8CC3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7393" y="3032624"/>
              <a:ext cx="1590982" cy="366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17E74BE-C3F1-FF75-DE19-657EFDDF972F}"/>
                </a:ext>
              </a:extLst>
            </p:cNvPr>
            <p:cNvSpPr txBox="1"/>
            <p:nvPr/>
          </p:nvSpPr>
          <p:spPr>
            <a:xfrm>
              <a:off x="9894727" y="1924964"/>
              <a:ext cx="19032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Ex:</a:t>
              </a:r>
              <a:r>
                <a:rPr lang="zh-TW" altLang="en-US" dirty="0"/>
                <a:t>他/跑步/快//</a:t>
              </a: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32EB721-68C6-855E-69E1-CEBB74FCD276}"/>
                </a:ext>
              </a:extLst>
            </p:cNvPr>
            <p:cNvCxnSpPr>
              <a:stCxn id="6" idx="2"/>
            </p:cNvCxnSpPr>
            <p:nvPr/>
          </p:nvCxnSpPr>
          <p:spPr>
            <a:xfrm flipH="1">
              <a:off x="10342884" y="2294296"/>
              <a:ext cx="503484" cy="6200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710D8440-D849-53CE-3E33-A251DAAB4295}"/>
                </a:ext>
              </a:extLst>
            </p:cNvPr>
            <p:cNvCxnSpPr>
              <a:cxnSpLocks/>
              <a:stCxn id="6" idx="2"/>
              <a:endCxn id="4" idx="0"/>
            </p:cNvCxnSpPr>
            <p:nvPr/>
          </p:nvCxnSpPr>
          <p:spPr>
            <a:xfrm flipH="1">
              <a:off x="8535244" y="2294296"/>
              <a:ext cx="2311124" cy="6200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9FB62800-2E58-FC13-24D9-D6CF191C511C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8535244" y="3517129"/>
              <a:ext cx="910414" cy="4044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C069A945-0D9B-2C21-A4F3-BD6B51BCAC54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9531312" y="3398881"/>
              <a:ext cx="811572" cy="5464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4DB7B14-2768-BEC9-2916-44D339EDB9C1}"/>
                </a:ext>
              </a:extLst>
            </p:cNvPr>
            <p:cNvSpPr txBox="1"/>
            <p:nvPr/>
          </p:nvSpPr>
          <p:spPr>
            <a:xfrm>
              <a:off x="7878392" y="4001632"/>
              <a:ext cx="33058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後處理後與參考目標計算分數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C14DE01D-BD61-7887-92FE-155CA3912BE3}"/>
              </a:ext>
            </a:extLst>
          </p:cNvPr>
          <p:cNvGrpSpPr/>
          <p:nvPr/>
        </p:nvGrpSpPr>
        <p:grpSpPr>
          <a:xfrm>
            <a:off x="579522" y="2751708"/>
            <a:ext cx="5272010" cy="1232935"/>
            <a:chOff x="891649" y="3068255"/>
            <a:chExt cx="5272010" cy="1232935"/>
          </a:xfrm>
        </p:grpSpPr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9828604C-7B61-19E2-66D5-B2F3FA83E5DB}"/>
                </a:ext>
              </a:extLst>
            </p:cNvPr>
            <p:cNvSpPr/>
            <p:nvPr/>
          </p:nvSpPr>
          <p:spPr>
            <a:xfrm>
              <a:off x="891649" y="3068255"/>
              <a:ext cx="1084122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solidFill>
                    <a:schemeClr val="tx1"/>
                  </a:solidFill>
                </a:rPr>
                <a:t>中文文本</a:t>
              </a:r>
            </a:p>
          </p:txBody>
        </p:sp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F2E75921-FEA9-A836-E627-1FA2BE609860}"/>
                </a:ext>
              </a:extLst>
            </p:cNvPr>
            <p:cNvSpPr/>
            <p:nvPr/>
          </p:nvSpPr>
          <p:spPr>
            <a:xfrm>
              <a:off x="2246925" y="3068255"/>
              <a:ext cx="1084122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CKIP</a:t>
              </a:r>
              <a:r>
                <a:rPr lang="zh-TW" altLang="en-US" sz="1400" dirty="0">
                  <a:solidFill>
                    <a:schemeClr val="tx1"/>
                  </a:solidFill>
                </a:rPr>
                <a:t> 斷詞</a:t>
              </a:r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FBC62CA9-8812-2AF1-0E2A-E62E5AC737BB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>
              <a:off x="1975771" y="3301654"/>
              <a:ext cx="2711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0675C0B3-6779-A985-2484-927533A9D440}"/>
                </a:ext>
              </a:extLst>
            </p:cNvPr>
            <p:cNvSpPr/>
            <p:nvPr/>
          </p:nvSpPr>
          <p:spPr>
            <a:xfrm>
              <a:off x="3602201" y="3068255"/>
              <a:ext cx="1084122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NLP</a:t>
              </a:r>
              <a:r>
                <a:rPr lang="zh-TW" altLang="en-US" sz="1400" dirty="0">
                  <a:solidFill>
                    <a:schemeClr val="tx1"/>
                  </a:solidFill>
                </a:rPr>
                <a:t> 分析</a:t>
              </a:r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ECAFD08-F411-8AC9-E20F-28DDE90329C6}"/>
                </a:ext>
              </a:extLst>
            </p:cNvPr>
            <p:cNvCxnSpPr>
              <a:cxnSpLocks/>
              <a:stCxn id="25" idx="3"/>
              <a:endCxn id="30" idx="1"/>
            </p:cNvCxnSpPr>
            <p:nvPr/>
          </p:nvCxnSpPr>
          <p:spPr>
            <a:xfrm>
              <a:off x="3331047" y="3301654"/>
              <a:ext cx="2711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D097C587-34DD-550D-7658-6CA0DEC07331}"/>
                </a:ext>
              </a:extLst>
            </p:cNvPr>
            <p:cNvSpPr/>
            <p:nvPr/>
          </p:nvSpPr>
          <p:spPr>
            <a:xfrm>
              <a:off x="4950132" y="3068255"/>
              <a:ext cx="1213526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Transformer </a:t>
              </a:r>
              <a:r>
                <a:rPr lang="zh-TW" altLang="en-US" sz="1400" dirty="0">
                  <a:solidFill>
                    <a:schemeClr val="tx1"/>
                  </a:solidFill>
                </a:rPr>
                <a:t>模型</a:t>
              </a:r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84EB30F4-D04E-06B1-B80B-440157856B18}"/>
                </a:ext>
              </a:extLst>
            </p:cNvPr>
            <p:cNvCxnSpPr>
              <a:cxnSpLocks/>
              <a:stCxn id="30" idx="3"/>
              <a:endCxn id="32" idx="1"/>
            </p:cNvCxnSpPr>
            <p:nvPr/>
          </p:nvCxnSpPr>
          <p:spPr>
            <a:xfrm>
              <a:off x="4686323" y="3301654"/>
              <a:ext cx="2638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2967DC35-48E0-4479-5238-E23F2B5791E4}"/>
                </a:ext>
              </a:extLst>
            </p:cNvPr>
            <p:cNvSpPr/>
            <p:nvPr/>
          </p:nvSpPr>
          <p:spPr>
            <a:xfrm>
              <a:off x="1704864" y="3834393"/>
              <a:ext cx="1084122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solidFill>
                    <a:schemeClr val="tx1"/>
                  </a:solidFill>
                </a:rPr>
                <a:t>模型輸出</a:t>
              </a:r>
            </a:p>
          </p:txBody>
        </p:sp>
        <p:cxnSp>
          <p:nvCxnSpPr>
            <p:cNvPr id="41" name="接點: 肘形 40">
              <a:extLst>
                <a:ext uri="{FF2B5EF4-FFF2-40B4-BE49-F238E27FC236}">
                  <a16:creationId xmlns:a16="http://schemas.microsoft.com/office/drawing/2014/main" id="{67375357-8F45-5F94-716D-A74D42D3E55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554416" y="3301650"/>
              <a:ext cx="1609243" cy="416613"/>
            </a:xfrm>
            <a:prstGeom prst="bentConnector3">
              <a:avLst>
                <a:gd name="adj1" fmla="val -9827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接點: 肘形 45">
              <a:extLst>
                <a:ext uri="{FF2B5EF4-FFF2-40B4-BE49-F238E27FC236}">
                  <a16:creationId xmlns:a16="http://schemas.microsoft.com/office/drawing/2014/main" id="{60769BC2-DE6E-35C4-383F-3516B93EF5D2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 rot="10800000" flipV="1">
              <a:off x="1704865" y="3718264"/>
              <a:ext cx="2950519" cy="349528"/>
            </a:xfrm>
            <a:prstGeom prst="bentConnector3">
              <a:avLst>
                <a:gd name="adj1" fmla="val 10774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: 圓角 49">
              <a:extLst>
                <a:ext uri="{FF2B5EF4-FFF2-40B4-BE49-F238E27FC236}">
                  <a16:creationId xmlns:a16="http://schemas.microsoft.com/office/drawing/2014/main" id="{59720273-3C99-A73A-FAAA-131E544AE30D}"/>
                </a:ext>
              </a:extLst>
            </p:cNvPr>
            <p:cNvSpPr/>
            <p:nvPr/>
          </p:nvSpPr>
          <p:spPr>
            <a:xfrm>
              <a:off x="3066656" y="3829728"/>
              <a:ext cx="1021063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Text2Vec </a:t>
              </a:r>
              <a:r>
                <a:rPr lang="zh-TW" altLang="en-US" sz="1400" dirty="0">
                  <a:solidFill>
                    <a:schemeClr val="tx1"/>
                  </a:solidFill>
                </a:rPr>
                <a:t>後處理</a:t>
              </a:r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E613767B-BB16-CF57-198C-82489F5194F1}"/>
                </a:ext>
              </a:extLst>
            </p:cNvPr>
            <p:cNvCxnSpPr>
              <a:cxnSpLocks/>
              <a:stCxn id="40" idx="3"/>
              <a:endCxn id="50" idx="1"/>
            </p:cNvCxnSpPr>
            <p:nvPr/>
          </p:nvCxnSpPr>
          <p:spPr>
            <a:xfrm flipV="1">
              <a:off x="2788986" y="4063127"/>
              <a:ext cx="277670" cy="46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22413CA8-9FE4-1BDF-6147-B148A5C8EC27}"/>
                </a:ext>
              </a:extLst>
            </p:cNvPr>
            <p:cNvCxnSpPr>
              <a:cxnSpLocks/>
              <a:stCxn id="50" idx="3"/>
              <a:endCxn id="57" idx="1"/>
            </p:cNvCxnSpPr>
            <p:nvPr/>
          </p:nvCxnSpPr>
          <p:spPr>
            <a:xfrm flipV="1">
              <a:off x="4087719" y="4063126"/>
              <a:ext cx="27767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矩形: 圓角 56">
              <a:extLst>
                <a:ext uri="{FF2B5EF4-FFF2-40B4-BE49-F238E27FC236}">
                  <a16:creationId xmlns:a16="http://schemas.microsoft.com/office/drawing/2014/main" id="{6FF62921-7CAF-569E-4758-2A318B0B5E36}"/>
                </a:ext>
              </a:extLst>
            </p:cNvPr>
            <p:cNvSpPr/>
            <p:nvPr/>
          </p:nvSpPr>
          <p:spPr>
            <a:xfrm>
              <a:off x="4365389" y="3829727"/>
              <a:ext cx="1084122" cy="46679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solidFill>
                    <a:schemeClr val="tx1"/>
                  </a:solidFill>
                </a:rPr>
                <a:t>手語輸出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99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E961-C7A6-28EA-FF67-28C0DCA7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字方塊 31">
            <a:extLst>
              <a:ext uri="{FF2B5EF4-FFF2-40B4-BE49-F238E27FC236}">
                <a16:creationId xmlns:a16="http://schemas.microsoft.com/office/drawing/2014/main" id="{E23E6FC3-1E84-1BA3-408D-AE97242DA86C}"/>
              </a:ext>
            </a:extLst>
          </p:cNvPr>
          <p:cNvSpPr txBox="1"/>
          <p:nvPr/>
        </p:nvSpPr>
        <p:spPr>
          <a:xfrm>
            <a:off x="717545" y="614281"/>
            <a:ext cx="1404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預處理</a:t>
            </a:r>
            <a:r>
              <a:rPr lang="en-US" altLang="zh-TW" dirty="0"/>
              <a:t>-Rule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08D5ECD9-D08F-6E10-7C1C-14E03C2DF63F}"/>
              </a:ext>
            </a:extLst>
          </p:cNvPr>
          <p:cNvGrpSpPr/>
          <p:nvPr/>
        </p:nvGrpSpPr>
        <p:grpSpPr>
          <a:xfrm>
            <a:off x="2764247" y="614281"/>
            <a:ext cx="6369076" cy="4134090"/>
            <a:chOff x="728058" y="1049625"/>
            <a:chExt cx="6369076" cy="413409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9C6FBB0F-73FD-189F-0FBB-3B6B21048C04}"/>
                </a:ext>
              </a:extLst>
            </p:cNvPr>
            <p:cNvSpPr txBox="1"/>
            <p:nvPr/>
          </p:nvSpPr>
          <p:spPr>
            <a:xfrm>
              <a:off x="934894" y="21096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文字</a:t>
              </a:r>
            </a:p>
          </p:txBody>
        </p:sp>
        <p:pic>
          <p:nvPicPr>
            <p:cNvPr id="4" name="圖形 3" descr="報紙 以實心填滿">
              <a:extLst>
                <a:ext uri="{FF2B5EF4-FFF2-40B4-BE49-F238E27FC236}">
                  <a16:creationId xmlns:a16="http://schemas.microsoft.com/office/drawing/2014/main" id="{1817F6AD-CD80-104E-1E63-3636BB4D4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8058" y="1049625"/>
              <a:ext cx="1060005" cy="1060005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4AD9AA88-3DA7-8E7A-6126-C8DE0B2C3EDB}"/>
                </a:ext>
              </a:extLst>
            </p:cNvPr>
            <p:cNvSpPr/>
            <p:nvPr/>
          </p:nvSpPr>
          <p:spPr>
            <a:xfrm>
              <a:off x="2438189" y="1435080"/>
              <a:ext cx="1278435" cy="47841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CKIP</a:t>
              </a:r>
              <a:r>
                <a:rPr lang="zh-TW" altLang="en-US" dirty="0">
                  <a:solidFill>
                    <a:schemeClr val="tx1"/>
                  </a:solidFill>
                </a:rPr>
                <a:t>斷詞</a:t>
              </a:r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B65CB009-A64C-2DFB-8D92-F1488F998552}"/>
                </a:ext>
              </a:extLst>
            </p:cNvPr>
            <p:cNvCxnSpPr>
              <a:cxnSpLocks/>
            </p:cNvCxnSpPr>
            <p:nvPr/>
          </p:nvCxnSpPr>
          <p:spPr>
            <a:xfrm>
              <a:off x="3895596" y="1674285"/>
              <a:ext cx="7203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50884A0-0C81-008F-F674-36C004188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1799" y="2098156"/>
              <a:ext cx="1131217" cy="1330844"/>
            </a:xfrm>
            <a:prstGeom prst="rect">
              <a:avLst/>
            </a:prstGeom>
          </p:spPr>
        </p:pic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7EDA53BE-4522-4245-7B00-E3D1096CFEA2}"/>
                </a:ext>
              </a:extLst>
            </p:cNvPr>
            <p:cNvCxnSpPr>
              <a:cxnSpLocks/>
            </p:cNvCxnSpPr>
            <p:nvPr/>
          </p:nvCxnSpPr>
          <p:spPr>
            <a:xfrm>
              <a:off x="1703123" y="1674285"/>
              <a:ext cx="558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3D3C7C91-3A78-C1FD-1C51-6DBF6560439D}"/>
                </a:ext>
              </a:extLst>
            </p:cNvPr>
            <p:cNvCxnSpPr>
              <a:cxnSpLocks/>
            </p:cNvCxnSpPr>
            <p:nvPr/>
          </p:nvCxnSpPr>
          <p:spPr>
            <a:xfrm>
              <a:off x="2360213" y="4283853"/>
              <a:ext cx="827236" cy="71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6B10C5EC-84E9-9BA2-239F-D435225F89E6}"/>
                </a:ext>
              </a:extLst>
            </p:cNvPr>
            <p:cNvSpPr/>
            <p:nvPr/>
          </p:nvSpPr>
          <p:spPr>
            <a:xfrm>
              <a:off x="3411063" y="4051818"/>
              <a:ext cx="2057059" cy="47841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Transformer</a:t>
              </a:r>
              <a:r>
                <a:rPr lang="zh-TW" altLang="en-US" dirty="0">
                  <a:solidFill>
                    <a:schemeClr val="tx1"/>
                  </a:solidFill>
                </a:rPr>
                <a:t>模型</a:t>
              </a:r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8178200E-0A03-3382-4821-224021CCF0C5}"/>
                </a:ext>
              </a:extLst>
            </p:cNvPr>
            <p:cNvCxnSpPr>
              <a:cxnSpLocks/>
            </p:cNvCxnSpPr>
            <p:nvPr/>
          </p:nvCxnSpPr>
          <p:spPr>
            <a:xfrm>
              <a:off x="5683080" y="4291023"/>
              <a:ext cx="6391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4B74263-CCCA-2D73-270E-BA318C017C27}"/>
                </a:ext>
              </a:extLst>
            </p:cNvPr>
            <p:cNvSpPr txBox="1"/>
            <p:nvPr/>
          </p:nvSpPr>
          <p:spPr>
            <a:xfrm>
              <a:off x="6450803" y="408994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輸出</a:t>
              </a:r>
            </a:p>
          </p:txBody>
        </p:sp>
        <p:pic>
          <p:nvPicPr>
            <p:cNvPr id="1026" name="Picture 2" descr="GitHub - hankcs/HanLP: Natural Language Processing for the ...">
              <a:extLst>
                <a:ext uri="{FF2B5EF4-FFF2-40B4-BE49-F238E27FC236}">
                  <a16:creationId xmlns:a16="http://schemas.microsoft.com/office/drawing/2014/main" id="{A9E3DE43-A7E2-0B98-7DF5-A9075A09B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913" y="4726368"/>
              <a:ext cx="1450218" cy="457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BDEE9552-85CB-E6CF-8A96-6EB1BA2E0BF5}"/>
                </a:ext>
              </a:extLst>
            </p:cNvPr>
            <p:cNvSpPr/>
            <p:nvPr/>
          </p:nvSpPr>
          <p:spPr>
            <a:xfrm>
              <a:off x="902806" y="4044648"/>
              <a:ext cx="1278435" cy="47841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預處理</a:t>
              </a:r>
            </a:p>
          </p:txBody>
        </p: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4854DDC7-9C64-32E6-BCAE-AD2097048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30436" y="2049689"/>
              <a:ext cx="1607335" cy="602751"/>
            </a:xfrm>
            <a:prstGeom prst="rect">
              <a:avLst/>
            </a:prstGeom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9424B1C0-1B1B-5CA5-7199-5CC1ECC19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5915" y="2694883"/>
              <a:ext cx="1590982" cy="366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D2FF10AA-14D7-45B5-6E3D-986C788C1316}"/>
                </a:ext>
              </a:extLst>
            </p:cNvPr>
            <p:cNvSpPr/>
            <p:nvPr/>
          </p:nvSpPr>
          <p:spPr>
            <a:xfrm>
              <a:off x="4794887" y="1435080"/>
              <a:ext cx="1278435" cy="47841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tx1"/>
                  </a:solidFill>
                </a:rPr>
                <a:t>近似詞彙</a:t>
              </a:r>
            </a:p>
          </p:txBody>
        </p:sp>
        <p:cxnSp>
          <p:nvCxnSpPr>
            <p:cNvPr id="12" name="接點: 肘形 11">
              <a:extLst>
                <a:ext uri="{FF2B5EF4-FFF2-40B4-BE49-F238E27FC236}">
                  <a16:creationId xmlns:a16="http://schemas.microsoft.com/office/drawing/2014/main" id="{0B7CAB50-C254-2EAE-24EA-A3C65A2A3C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5511" y="1640152"/>
              <a:ext cx="2356697" cy="2109461"/>
            </a:xfrm>
            <a:prstGeom prst="bentConnector3">
              <a:avLst>
                <a:gd name="adj1" fmla="val -4130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接點: 肘形 20">
              <a:extLst>
                <a:ext uri="{FF2B5EF4-FFF2-40B4-BE49-F238E27FC236}">
                  <a16:creationId xmlns:a16="http://schemas.microsoft.com/office/drawing/2014/main" id="{28B7EA0A-81D6-E1F2-7EB0-4E1DFDA7AD5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28061" y="3749613"/>
              <a:ext cx="3177450" cy="534238"/>
            </a:xfrm>
            <a:prstGeom prst="bentConnector3">
              <a:avLst>
                <a:gd name="adj1" fmla="val 10755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99547B72-1065-10AA-662A-0B7181F0B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898" y="1495413"/>
            <a:ext cx="25622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4940B6-328F-7A88-F923-9071A9ECD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51" y="1977926"/>
            <a:ext cx="256222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E179560-69E4-E357-ED4E-46CDE1E36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786" y="1977926"/>
            <a:ext cx="25717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89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7D5BE1-0933-B309-0A0C-D95EF95A1561}"/>
              </a:ext>
            </a:extLst>
          </p:cNvPr>
          <p:cNvSpPr/>
          <p:nvPr/>
        </p:nvSpPr>
        <p:spPr>
          <a:xfrm>
            <a:off x="245096" y="197962"/>
            <a:ext cx="2064471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輸入區域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37B757-7250-2B78-CECF-43932BFBD67B}"/>
              </a:ext>
            </a:extLst>
          </p:cNvPr>
          <p:cNvSpPr/>
          <p:nvPr/>
        </p:nvSpPr>
        <p:spPr>
          <a:xfrm>
            <a:off x="245096" y="983529"/>
            <a:ext cx="2064471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控制區域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68EBDC7-215A-C0EA-F282-E5DE449371BE}"/>
              </a:ext>
            </a:extLst>
          </p:cNvPr>
          <p:cNvSpPr/>
          <p:nvPr/>
        </p:nvSpPr>
        <p:spPr>
          <a:xfrm>
            <a:off x="245096" y="1769096"/>
            <a:ext cx="2064471" cy="21713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輸出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4720B5F-4C07-7AE6-05BC-20F0366D42E2}"/>
              </a:ext>
            </a:extLst>
          </p:cNvPr>
          <p:cNvSpPr/>
          <p:nvPr/>
        </p:nvSpPr>
        <p:spPr>
          <a:xfrm>
            <a:off x="9381241" y="1427726"/>
            <a:ext cx="1063659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GUI</a:t>
            </a:r>
            <a:endParaRPr lang="zh-TW" altLang="en-US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1" name="箭號: 向左 10">
            <a:extLst>
              <a:ext uri="{FF2B5EF4-FFF2-40B4-BE49-F238E27FC236}">
                <a16:creationId xmlns:a16="http://schemas.microsoft.com/office/drawing/2014/main" id="{6AEA093C-B2D7-CECD-B032-86B797772F7F}"/>
              </a:ext>
            </a:extLst>
          </p:cNvPr>
          <p:cNvSpPr/>
          <p:nvPr/>
        </p:nvSpPr>
        <p:spPr>
          <a:xfrm>
            <a:off x="7748846" y="1625690"/>
            <a:ext cx="1282033" cy="15082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箭號: 向左 11">
            <a:extLst>
              <a:ext uri="{FF2B5EF4-FFF2-40B4-BE49-F238E27FC236}">
                <a16:creationId xmlns:a16="http://schemas.microsoft.com/office/drawing/2014/main" id="{EC2DC213-00A7-6A53-56F6-77BF6AE48E96}"/>
              </a:ext>
            </a:extLst>
          </p:cNvPr>
          <p:cNvSpPr/>
          <p:nvPr/>
        </p:nvSpPr>
        <p:spPr>
          <a:xfrm rot="10800000">
            <a:off x="7990799" y="1776519"/>
            <a:ext cx="1282034" cy="1508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C52BFC5-004F-DCDE-D92A-C3634C9DC71B}"/>
              </a:ext>
            </a:extLst>
          </p:cNvPr>
          <p:cNvSpPr txBox="1"/>
          <p:nvPr/>
        </p:nvSpPr>
        <p:spPr>
          <a:xfrm>
            <a:off x="7869126" y="127383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接收使用者輸入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58FDD9B-44E4-FFC1-6B6F-EE76FA9E8B46}"/>
              </a:ext>
            </a:extLst>
          </p:cNvPr>
          <p:cNvSpPr txBox="1"/>
          <p:nvPr/>
        </p:nvSpPr>
        <p:spPr>
          <a:xfrm>
            <a:off x="7640438" y="2079399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回傳模型輸出結果與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對應影片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171C07F-1C36-C1D2-6E67-2017927A8DF3}"/>
              </a:ext>
            </a:extLst>
          </p:cNvPr>
          <p:cNvSpPr/>
          <p:nvPr/>
        </p:nvSpPr>
        <p:spPr>
          <a:xfrm>
            <a:off x="6396029" y="1427726"/>
            <a:ext cx="1244409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後端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F93A073-B23D-4E6D-DBF9-C69DCD178299}"/>
              </a:ext>
            </a:extLst>
          </p:cNvPr>
          <p:cNvSpPr/>
          <p:nvPr/>
        </p:nvSpPr>
        <p:spPr>
          <a:xfrm>
            <a:off x="5066060" y="2276140"/>
            <a:ext cx="1244409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後處理</a:t>
            </a:r>
          </a:p>
        </p:txBody>
      </p:sp>
      <p:sp>
        <p:nvSpPr>
          <p:cNvPr id="18" name="箭號: 上彎 17">
            <a:extLst>
              <a:ext uri="{FF2B5EF4-FFF2-40B4-BE49-F238E27FC236}">
                <a16:creationId xmlns:a16="http://schemas.microsoft.com/office/drawing/2014/main" id="{CB040A14-8569-5EF3-167C-64534476A417}"/>
              </a:ext>
            </a:extLst>
          </p:cNvPr>
          <p:cNvSpPr/>
          <p:nvPr/>
        </p:nvSpPr>
        <p:spPr>
          <a:xfrm>
            <a:off x="6484863" y="2209070"/>
            <a:ext cx="711709" cy="487643"/>
          </a:xfrm>
          <a:prstGeom prst="bentUpArrow">
            <a:avLst>
              <a:gd name="adj1" fmla="val 1533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箭號: 上彎 19">
            <a:extLst>
              <a:ext uri="{FF2B5EF4-FFF2-40B4-BE49-F238E27FC236}">
                <a16:creationId xmlns:a16="http://schemas.microsoft.com/office/drawing/2014/main" id="{5C6DF685-EA33-9E6E-C536-CEB0771D9034}"/>
              </a:ext>
            </a:extLst>
          </p:cNvPr>
          <p:cNvSpPr/>
          <p:nvPr/>
        </p:nvSpPr>
        <p:spPr>
          <a:xfrm rot="5400000" flipH="1" flipV="1">
            <a:off x="6508460" y="680953"/>
            <a:ext cx="487642" cy="711711"/>
          </a:xfrm>
          <a:prstGeom prst="bentUpArrow">
            <a:avLst>
              <a:gd name="adj1" fmla="val 1533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EB9D9B3-5BDD-C867-8A9E-CED984C34B3F}"/>
              </a:ext>
            </a:extLst>
          </p:cNvPr>
          <p:cNvSpPr/>
          <p:nvPr/>
        </p:nvSpPr>
        <p:spPr>
          <a:xfrm>
            <a:off x="5066059" y="621029"/>
            <a:ext cx="1244409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前處理</a:t>
            </a:r>
          </a:p>
        </p:txBody>
      </p:sp>
      <p:sp>
        <p:nvSpPr>
          <p:cNvPr id="23" name="箭號: 上彎 22">
            <a:extLst>
              <a:ext uri="{FF2B5EF4-FFF2-40B4-BE49-F238E27FC236}">
                <a16:creationId xmlns:a16="http://schemas.microsoft.com/office/drawing/2014/main" id="{CF2F4CD2-EAB7-BA27-C22C-88F930B52729}"/>
              </a:ext>
            </a:extLst>
          </p:cNvPr>
          <p:cNvSpPr/>
          <p:nvPr/>
        </p:nvSpPr>
        <p:spPr>
          <a:xfrm rot="5400000">
            <a:off x="4291989" y="2164106"/>
            <a:ext cx="487642" cy="711711"/>
          </a:xfrm>
          <a:prstGeom prst="bentUpArrow">
            <a:avLst>
              <a:gd name="adj1" fmla="val 1533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5" name="箭號: 上彎 24">
            <a:extLst>
              <a:ext uri="{FF2B5EF4-FFF2-40B4-BE49-F238E27FC236}">
                <a16:creationId xmlns:a16="http://schemas.microsoft.com/office/drawing/2014/main" id="{D639DEFB-7FF2-E046-0D6D-51F38470ACE2}"/>
              </a:ext>
            </a:extLst>
          </p:cNvPr>
          <p:cNvSpPr/>
          <p:nvPr/>
        </p:nvSpPr>
        <p:spPr>
          <a:xfrm flipH="1" flipV="1">
            <a:off x="4179954" y="792987"/>
            <a:ext cx="711709" cy="487643"/>
          </a:xfrm>
          <a:prstGeom prst="bentUpArrow">
            <a:avLst>
              <a:gd name="adj1" fmla="val 1533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4140C53-DE6B-203F-0E2E-FDBFF9EA7D1A}"/>
              </a:ext>
            </a:extLst>
          </p:cNvPr>
          <p:cNvSpPr/>
          <p:nvPr/>
        </p:nvSpPr>
        <p:spPr>
          <a:xfrm>
            <a:off x="3662888" y="1427725"/>
            <a:ext cx="1244409" cy="641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Model</a:t>
            </a:r>
            <a:endParaRPr lang="zh-TW" altLang="en-US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649111A7-DD26-B2F3-CD35-A9D575EF2ABF}"/>
              </a:ext>
            </a:extLst>
          </p:cNvPr>
          <p:cNvGrpSpPr/>
          <p:nvPr/>
        </p:nvGrpSpPr>
        <p:grpSpPr>
          <a:xfrm>
            <a:off x="3299073" y="4091060"/>
            <a:ext cx="7000083" cy="1406680"/>
            <a:chOff x="3299073" y="4091060"/>
            <a:chExt cx="7000083" cy="1406680"/>
          </a:xfrm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4C94D964-A134-6D81-F2A4-8FF4C8FFB33C}"/>
                </a:ext>
              </a:extLst>
            </p:cNvPr>
            <p:cNvSpPr/>
            <p:nvPr/>
          </p:nvSpPr>
          <p:spPr>
            <a:xfrm>
              <a:off x="3299073" y="4435817"/>
              <a:ext cx="1090396" cy="48077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GUI</a:t>
              </a:r>
              <a:endPara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E2AE43D-CEE9-EC91-24C2-B8217D673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9469" y="4604407"/>
              <a:ext cx="676589" cy="10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87DE7990-3630-43FE-9535-B6A71109B36E}"/>
                </a:ext>
              </a:extLst>
            </p:cNvPr>
            <p:cNvGrpSpPr/>
            <p:nvPr/>
          </p:nvGrpSpPr>
          <p:grpSpPr>
            <a:xfrm>
              <a:off x="5066059" y="4429834"/>
              <a:ext cx="5233097" cy="485452"/>
              <a:chOff x="4679973" y="4428950"/>
              <a:chExt cx="5233097" cy="485452"/>
            </a:xfrm>
          </p:grpSpPr>
          <p:sp>
            <p:nvSpPr>
              <p:cNvPr id="30" name="矩形: 圓角 29">
                <a:extLst>
                  <a:ext uri="{FF2B5EF4-FFF2-40B4-BE49-F238E27FC236}">
                    <a16:creationId xmlns:a16="http://schemas.microsoft.com/office/drawing/2014/main" id="{4708BF81-8846-4951-56F7-AD651CA4A934}"/>
                  </a:ext>
                </a:extLst>
              </p:cNvPr>
              <p:cNvSpPr/>
              <p:nvPr/>
            </p:nvSpPr>
            <p:spPr>
              <a:xfrm>
                <a:off x="4679973" y="4433624"/>
                <a:ext cx="1090396" cy="4807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後端</a:t>
                </a:r>
              </a:p>
            </p:txBody>
          </p:sp>
          <p:sp>
            <p:nvSpPr>
              <p:cNvPr id="34" name="矩形: 圓角 33">
                <a:extLst>
                  <a:ext uri="{FF2B5EF4-FFF2-40B4-BE49-F238E27FC236}">
                    <a16:creationId xmlns:a16="http://schemas.microsoft.com/office/drawing/2014/main" id="{FC016321-E55F-EB4D-14BE-4C33A553109E}"/>
                  </a:ext>
                </a:extLst>
              </p:cNvPr>
              <p:cNvSpPr/>
              <p:nvPr/>
            </p:nvSpPr>
            <p:spPr>
              <a:xfrm>
                <a:off x="6060873" y="4433623"/>
                <a:ext cx="1090396" cy="4807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前處理</a:t>
                </a:r>
              </a:p>
            </p:txBody>
          </p:sp>
          <p:cxnSp>
            <p:nvCxnSpPr>
              <p:cNvPr id="35" name="直線單箭頭接點 34">
                <a:extLst>
                  <a:ext uri="{FF2B5EF4-FFF2-40B4-BE49-F238E27FC236}">
                    <a16:creationId xmlns:a16="http://schemas.microsoft.com/office/drawing/2014/main" id="{A6724948-D721-FB4E-5C41-060E8D9B1B4F}"/>
                  </a:ext>
                </a:extLst>
              </p:cNvPr>
              <p:cNvCxnSpPr>
                <a:cxnSpLocks/>
                <a:stCxn id="30" idx="3"/>
                <a:endCxn id="34" idx="1"/>
              </p:cNvCxnSpPr>
              <p:nvPr/>
            </p:nvCxnSpPr>
            <p:spPr>
              <a:xfrm flipV="1">
                <a:off x="5770369" y="4674012"/>
                <a:ext cx="29050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矩形: 圓角 37">
                <a:extLst>
                  <a:ext uri="{FF2B5EF4-FFF2-40B4-BE49-F238E27FC236}">
                    <a16:creationId xmlns:a16="http://schemas.microsoft.com/office/drawing/2014/main" id="{6959E3EC-DF08-51F1-16EF-F551A58F7773}"/>
                  </a:ext>
                </a:extLst>
              </p:cNvPr>
              <p:cNvSpPr/>
              <p:nvPr/>
            </p:nvSpPr>
            <p:spPr>
              <a:xfrm>
                <a:off x="7441774" y="4428952"/>
                <a:ext cx="1090396" cy="4807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Model</a:t>
                </a:r>
                <a:endParaRPr lang="zh-TW" altLang="en-US" sz="1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F500828A-2C64-09C0-1288-A5C089B52B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51270" y="4669339"/>
                <a:ext cx="29050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矩形: 圓角 39">
                <a:extLst>
                  <a:ext uri="{FF2B5EF4-FFF2-40B4-BE49-F238E27FC236}">
                    <a16:creationId xmlns:a16="http://schemas.microsoft.com/office/drawing/2014/main" id="{BBD76CDF-F676-7CEB-F40A-3D9CBC27DF98}"/>
                  </a:ext>
                </a:extLst>
              </p:cNvPr>
              <p:cNvSpPr/>
              <p:nvPr/>
            </p:nvSpPr>
            <p:spPr>
              <a:xfrm>
                <a:off x="8822674" y="4428950"/>
                <a:ext cx="1090396" cy="4807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後處理</a:t>
                </a:r>
              </a:p>
            </p:txBody>
          </p:sp>
          <p:cxnSp>
            <p:nvCxnSpPr>
              <p:cNvPr id="41" name="直線單箭頭接點 40">
                <a:extLst>
                  <a:ext uri="{FF2B5EF4-FFF2-40B4-BE49-F238E27FC236}">
                    <a16:creationId xmlns:a16="http://schemas.microsoft.com/office/drawing/2014/main" id="{01A84485-3635-2CF5-EA13-5DFD4F2D4C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32170" y="4669337"/>
                <a:ext cx="29050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接點: 肘形 42">
                <a:extLst>
                  <a:ext uri="{FF2B5EF4-FFF2-40B4-BE49-F238E27FC236}">
                    <a16:creationId xmlns:a16="http://schemas.microsoft.com/office/drawing/2014/main" id="{38F2580C-8EFA-8CF0-7B71-BB2E060DBF5B}"/>
                  </a:ext>
                </a:extLst>
              </p:cNvPr>
              <p:cNvCxnSpPr>
                <a:stCxn id="40" idx="2"/>
                <a:endCxn id="30" idx="2"/>
              </p:cNvCxnSpPr>
              <p:nvPr/>
            </p:nvCxnSpPr>
            <p:spPr>
              <a:xfrm rot="5400000">
                <a:off x="7294185" y="2840714"/>
                <a:ext cx="4674" cy="4142701"/>
              </a:xfrm>
              <a:prstGeom prst="bentConnector3">
                <a:avLst>
                  <a:gd name="adj1" fmla="val 3768164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614F0D-5709-4579-8F58-41531CDBD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1564" y="4756662"/>
              <a:ext cx="694494" cy="109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5A055D9-D498-2DB3-71EA-DB298311A6C5}"/>
                </a:ext>
              </a:extLst>
            </p:cNvPr>
            <p:cNvSpPr txBox="1"/>
            <p:nvPr/>
          </p:nvSpPr>
          <p:spPr>
            <a:xfrm>
              <a:off x="4025558" y="4091060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接收使用者輸入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D9C27081-358D-11AB-CE46-1D42A425E4B7}"/>
                </a:ext>
              </a:extLst>
            </p:cNvPr>
            <p:cNvSpPr txBox="1"/>
            <p:nvPr/>
          </p:nvSpPr>
          <p:spPr>
            <a:xfrm>
              <a:off x="4025558" y="4974520"/>
              <a:ext cx="15268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回傳模型輸出結果與對應影片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54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6554</TotalTime>
  <Words>293</Words>
  <Application>Microsoft Office PowerPoint</Application>
  <PresentationFormat>寬螢幕</PresentationFormat>
  <Paragraphs>80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BIZ UDPGothic</vt:lpstr>
      <vt:lpstr>微軟正黑體</vt:lpstr>
      <vt:lpstr>標楷體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朱禹丞 (112522093)</dc:creator>
  <cp:lastModifiedBy>朱禹丞 (112522093)</cp:lastModifiedBy>
  <cp:revision>11</cp:revision>
  <dcterms:created xsi:type="dcterms:W3CDTF">2024-11-06T02:48:11Z</dcterms:created>
  <dcterms:modified xsi:type="dcterms:W3CDTF">2025-06-07T15:21:26Z</dcterms:modified>
</cp:coreProperties>
</file>